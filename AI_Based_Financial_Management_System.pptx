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E1E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18320" y="640080"/>
            <a:ext cx="1965960" cy="1965960"/>
          </a:xfrm>
          <a:prstGeom prst="round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57232" y="1042415"/>
            <a:ext cx="1097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Aptos"/>
              </a:defRPr>
            </a:pPr>
            <a:r>
              <a:t>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3977639"/>
            <a:ext cx="25603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64040" y="5394960"/>
            <a:ext cx="356616" cy="502920"/>
          </a:xfrm>
          <a:prstGeom prst="round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0888" y="5989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Q1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5029200"/>
            <a:ext cx="356616" cy="868680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85248" y="5989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Q2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52760" y="4709160"/>
            <a:ext cx="356616" cy="1188720"/>
          </a:xfrm>
          <a:prstGeom prst="roundRect">
            <a:avLst/>
          </a:prstGeom>
          <a:solidFill>
            <a:srgbClr val="F4B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79608" y="5989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051560"/>
            <a:ext cx="82296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500" b="1">
                <a:solidFill>
                  <a:srgbClr val="000000"/>
                </a:solidFill>
                <a:latin typeface="Aptos"/>
              </a:defRPr>
            </a:pPr>
            <a:r>
              <a:t>AI-BASED FINANCIAL</a:t>
            </a:r>
          </a:p>
          <a:p>
            <a:pPr>
              <a:defRPr sz="3500" b="1">
                <a:solidFill>
                  <a:srgbClr val="000000"/>
                </a:solidFill>
                <a:latin typeface="Aptos"/>
              </a:defRPr>
            </a:pPr>
            <a:r>
              <a:t>MANAGEMENT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788920"/>
            <a:ext cx="1965960" cy="73152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27248"/>
            <a:ext cx="7315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4213D"/>
                </a:solidFill>
                <a:latin typeface="Aptos"/>
              </a:defRPr>
            </a:pPr>
            <a:r>
              <a:t>SUMMER INTERNSHIP PROJECT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0507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242D3E"/>
                </a:solidFill>
                <a:latin typeface="Aptos"/>
              </a:defRPr>
            </a:pPr>
            <a:r>
              <a:t>KEERTHIVASAN PS  |  810023205006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5371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0">
                <a:solidFill>
                  <a:srgbClr val="242D3E"/>
                </a:solidFill>
                <a:latin typeface="Aptos"/>
              </a:defRPr>
            </a:pPr>
            <a:r>
              <a:t>B.Tech Information Technology — IV Year, A Section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38928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0">
                <a:solidFill>
                  <a:srgbClr val="242D3E"/>
                </a:solidFill>
                <a:latin typeface="Aptos"/>
              </a:defRPr>
            </a:pPr>
            <a:r>
              <a:t>University College of Engineering, BIT Campus</a:t>
            </a:r>
          </a:p>
          <a:p>
            <a:pPr>
              <a:defRPr sz="1600" b="0">
                <a:solidFill>
                  <a:srgbClr val="242D3E"/>
                </a:solidFill>
                <a:latin typeface="Aptos"/>
              </a:defRPr>
            </a:pPr>
            <a:r>
              <a:t>Anna University, Tiruchirappalli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33271"/>
            <a:ext cx="11365992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02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90472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371600"/>
            <a:ext cx="7223759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242D3E"/>
                </a:solidFill>
                <a:latin typeface="Aptos"/>
              </a:defRPr>
            </a:pPr>
            <a:r>
              <a:t>A full-stack web application for tracking personal income and expenses.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1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31720"/>
            <a:ext cx="7223759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242D3E"/>
                </a:solidFill>
                <a:latin typeface="Aptos"/>
              </a:defRPr>
            </a:pPr>
            <a:r>
              <a:t>Shows budget summaries, savings goals and key financial indicators.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410712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91840"/>
            <a:ext cx="7223759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242D3E"/>
                </a:solidFill>
                <a:latin typeface="Aptos"/>
              </a:defRPr>
            </a:pPr>
            <a:r>
              <a:t>Combines calculation rules with explainable AI-assisted guidance.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70832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251960"/>
            <a:ext cx="7223759" cy="923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242D3E"/>
                </a:solidFill>
                <a:latin typeface="Aptos"/>
              </a:defRPr>
            </a:pPr>
            <a:r>
              <a:t>Helps users understand financial habits and plan improvements.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508760"/>
            <a:ext cx="2377440" cy="411480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1508760"/>
            <a:ext cx="64008" cy="411480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1691639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39D96"/>
                </a:solidFill>
                <a:latin typeface="Aptos"/>
              </a:defRPr>
            </a:pPr>
            <a:r>
              <a:t>ONE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194560"/>
            <a:ext cx="19202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Income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Expenses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Savings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Goals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Internship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33271"/>
            <a:ext cx="11365992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03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90472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371600"/>
            <a:ext cx="960120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242D3E"/>
                </a:solidFill>
                <a:latin typeface="Aptos"/>
              </a:defRPr>
            </a:pPr>
            <a:r>
              <a:t>Organisation: NET7 Technology Solutions India Private Limited.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23160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04288"/>
            <a:ext cx="960120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242D3E"/>
                </a:solidFill>
                <a:latin typeface="Aptos"/>
              </a:defRPr>
            </a:pPr>
            <a:r>
              <a:t>Internship work associated with the Mayiladuthurai facility.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5848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36976"/>
            <a:ext cx="960120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242D3E"/>
                </a:solidFill>
                <a:latin typeface="Aptos"/>
              </a:defRPr>
            </a:pPr>
            <a:r>
              <a:t>Corporate headquarters mentioned in the report: Chennai.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88536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169664"/>
            <a:ext cx="960120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242D3E"/>
                </a:solidFill>
                <a:latin typeface="Aptos"/>
              </a:defRPr>
            </a:pPr>
            <a:r>
              <a:t>Project domain: personal finance management using web and AI concepts.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33271"/>
            <a:ext cx="11365992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04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90472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371600"/>
            <a:ext cx="10058400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242D3E"/>
                </a:solidFill>
                <a:latin typeface="Aptos"/>
              </a:defRPr>
            </a:pPr>
            <a:r>
              <a:t>Daily spending is often recorded inconsistently or not at 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32304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13432"/>
            <a:ext cx="10058400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242D3E"/>
                </a:solidFill>
                <a:latin typeface="Aptos"/>
              </a:defRPr>
            </a:pPr>
            <a:r>
              <a:t>Manual budgeting requires repeated calculations.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74136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55264"/>
            <a:ext cx="10058400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242D3E"/>
                </a:solidFill>
                <a:latin typeface="Aptos"/>
              </a:defRPr>
            </a:pPr>
            <a:r>
              <a:t>Savings progress and debt burden can be hard to interpret.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15968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197096"/>
            <a:ext cx="10058400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242D3E"/>
                </a:solidFill>
                <a:latin typeface="Aptos"/>
              </a:defRPr>
            </a:pPr>
            <a:r>
              <a:t>Generic financial tips may not match an individual user’s situation.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Programming Languages &amp; Technologies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33271"/>
            <a:ext cx="11365992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05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2834640" cy="150876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64008" cy="1508760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E69DC"/>
                </a:solidFill>
                <a:latin typeface="Aptos"/>
              </a:defRPr>
            </a:pPr>
            <a:r>
              <a:t>HTML5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2377440" cy="777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Page 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417320"/>
            <a:ext cx="2834640" cy="150876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417320"/>
            <a:ext cx="64008" cy="15087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600200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39D96"/>
                </a:solidFill>
                <a:latin typeface="Aptos"/>
              </a:defRPr>
            </a:pPr>
            <a:r>
              <a:t>CSS3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03120"/>
            <a:ext cx="2377440" cy="777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Interface styling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417320"/>
            <a:ext cx="2834640" cy="150876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1417320"/>
            <a:ext cx="64008" cy="1508760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1600200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E69DC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103120"/>
            <a:ext cx="2377440" cy="777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Browser interactions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37560"/>
            <a:ext cx="2834640" cy="150876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337560"/>
            <a:ext cx="64008" cy="15087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39D96"/>
                </a:solidFill>
                <a:latin typeface="Aptos"/>
              </a:defRPr>
            </a:pPr>
            <a:r>
              <a:t>MySQL 8.0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023360"/>
            <a:ext cx="2377440" cy="777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Relational database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337560"/>
            <a:ext cx="2834640" cy="150876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0520" y="3337560"/>
            <a:ext cx="64008" cy="1508760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520440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E69DC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023360"/>
            <a:ext cx="2377440" cy="777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AI classification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3337560"/>
            <a:ext cx="2834640" cy="150876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89520" y="3337560"/>
            <a:ext cx="64008" cy="15087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3520440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39D96"/>
                </a:solidFill>
                <a:latin typeface="Aptos"/>
              </a:defRPr>
            </a:pPr>
            <a:r>
              <a:t>Python / Node.js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023360"/>
            <a:ext cx="2377440" cy="777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Backend options in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6875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677387"/>
                </a:solidFill>
                <a:latin typeface="Aptos"/>
              </a:defRPr>
            </a:pPr>
            <a:r>
              <a:t>Note: The report lists Python 3.10+ and Node.js 18 LTS as backend options; the actual implemented backend must be confirmed from source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33271"/>
            <a:ext cx="11365992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06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90472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371600"/>
            <a:ext cx="96012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242D3E"/>
                </a:solidFill>
                <a:latin typeface="Aptos"/>
              </a:defRPr>
            </a:pPr>
            <a:r>
              <a:t>Provide one place to record income, expenses and savings.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13432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94560"/>
            <a:ext cx="96012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242D3E"/>
                </a:solidFill>
                <a:latin typeface="Aptos"/>
              </a:defRPr>
            </a:pPr>
            <a:r>
              <a:t>Automatically calculate important financial ratios.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36391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17520"/>
            <a:ext cx="96012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242D3E"/>
                </a:solidFill>
                <a:latin typeface="Aptos"/>
              </a:defRPr>
            </a:pPr>
            <a:r>
              <a:t>Support savings targets and goal progress tracking.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959352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840480"/>
            <a:ext cx="96012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242D3E"/>
                </a:solidFill>
                <a:latin typeface="Aptos"/>
              </a:defRPr>
            </a:pPr>
            <a:r>
              <a:t>Generate simple, explainable recommendations.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782312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663440"/>
            <a:ext cx="96012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242D3E"/>
                </a:solidFill>
                <a:latin typeface="Aptos"/>
              </a:defRPr>
            </a:pPr>
            <a:r>
              <a:t>Encourage responsible financial awareness.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Existing System vs Proposed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33271"/>
            <a:ext cx="11365992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07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074920" cy="425196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64008" cy="4251960"/>
          </a:xfrm>
          <a:prstGeom prst="rect">
            <a:avLst/>
          </a:prstGeom>
          <a:solidFill>
            <a:srgbClr val="C1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4617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C15353"/>
                </a:solidFill>
                <a:latin typeface="Aptos"/>
              </a:defRPr>
            </a:pPr>
            <a:r>
              <a:t>EXISTING /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46177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• Paper notes and spreadsheets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• Repeated manual calculations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• Limited savings goal tracking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• Generic advice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5074920" cy="425196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417320"/>
            <a:ext cx="64008" cy="42519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00200"/>
            <a:ext cx="4617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39D96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46177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• Central transaction ledger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• Automatic financial metrics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• Goal progress dashboard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• Rule-based and AI guidance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33271"/>
            <a:ext cx="11365992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08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956815" cy="749808"/>
          </a:xfrm>
          <a:prstGeom prst="round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36392"/>
            <a:ext cx="1865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4213D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5767" y="310896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39D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5" y="2926080"/>
            <a:ext cx="1956815" cy="749808"/>
          </a:xfrm>
          <a:prstGeom prst="roundRect">
            <a:avLst/>
          </a:prstGeom>
          <a:solidFill>
            <a:srgbClr val="E0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5" y="3136392"/>
            <a:ext cx="1865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4213D"/>
                </a:solidFill>
                <a:latin typeface="Aptos"/>
              </a:defRPr>
            </a:pPr>
            <a:r>
              <a:t>Backend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310896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39D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10912" y="2926080"/>
            <a:ext cx="1956815" cy="749808"/>
          </a:xfrm>
          <a:prstGeom prst="round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6631" y="3136392"/>
            <a:ext cx="1865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4213D"/>
                </a:solidFill>
                <a:latin typeface="Aptos"/>
              </a:defRPr>
            </a:pPr>
            <a:r>
              <a:t>Calculations +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310896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39D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50607" y="2926080"/>
            <a:ext cx="1956815" cy="749808"/>
          </a:xfrm>
          <a:prstGeom prst="roundRect">
            <a:avLst/>
          </a:prstGeom>
          <a:solidFill>
            <a:srgbClr val="E0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96327" y="3136392"/>
            <a:ext cx="1865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4213D"/>
                </a:solidFill>
                <a:latin typeface="Aptos"/>
              </a:defRPr>
            </a:pPr>
            <a:r>
              <a:t>MySQL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5" y="310896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39D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0304" y="2926080"/>
            <a:ext cx="1956815" cy="749808"/>
          </a:xfrm>
          <a:prstGeom prst="round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3136392"/>
            <a:ext cx="1865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4213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1508760"/>
            <a:ext cx="10149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242D3E"/>
                </a:solidFill>
                <a:latin typeface="Aptos"/>
              </a:defRPr>
            </a:pPr>
            <a:r>
              <a:t>Presentation of data flows from user input through validation, calculations, recommendations and storage.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17720"/>
            <a:ext cx="10149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0">
                <a:solidFill>
                  <a:srgbClr val="677387"/>
                </a:solidFill>
                <a:latin typeface="Aptos"/>
              </a:defRPr>
            </a:pPr>
            <a:r>
              <a:t>Frontend: HTML / CSS / JavaScript   •   Backend runtime: confirm actual choice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Database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33271"/>
            <a:ext cx="11365992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09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4846320" cy="160020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508760"/>
            <a:ext cx="64008" cy="1600200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91639"/>
            <a:ext cx="4389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E69DC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94560"/>
            <a:ext cx="43891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User ID, profile, preferences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4846320" cy="160020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64008" cy="1600200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91639"/>
            <a:ext cx="4389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E69DC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94560"/>
            <a:ext cx="43891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Type, amount, date, 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49039"/>
            <a:ext cx="4846320" cy="160020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749039"/>
            <a:ext cx="64008" cy="1600200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4389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E69DC"/>
                </a:solidFill>
                <a:latin typeface="Aptos"/>
              </a:defRPr>
            </a:pPr>
            <a:r>
              <a:t>BUDGETS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34840"/>
            <a:ext cx="43891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Category limits, spending progress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49039"/>
            <a:ext cx="4846320" cy="160020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749039"/>
            <a:ext cx="64008" cy="1600200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931920"/>
            <a:ext cx="4389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E69DC"/>
                </a:solidFill>
                <a:latin typeface="Aptos"/>
              </a:defRPr>
            </a:pPr>
            <a:r>
              <a:t>GOALS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434840"/>
            <a:ext cx="43891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Target, savings, target 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Key Financial Formulas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33271"/>
            <a:ext cx="11365992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10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4983480" cy="1572768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64008" cy="1572768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E69DC"/>
                </a:solidFill>
                <a:latin typeface="Aptos"/>
              </a:defRPr>
            </a:pPr>
            <a:r>
              <a:t>NET 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452628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Income − Expenses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4983480" cy="1572768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64008" cy="1572768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00200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E69DC"/>
                </a:solidFill>
                <a:latin typeface="Aptos"/>
              </a:defRPr>
            </a:pPr>
            <a:r>
              <a:t>SAVINGS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03120"/>
            <a:ext cx="452628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(Savings / Income) × 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4983480" cy="1572768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20440"/>
            <a:ext cx="64008" cy="1572768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03320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E69DC"/>
                </a:solidFill>
                <a:latin typeface="Aptos"/>
              </a:defRPr>
            </a:pPr>
            <a:r>
              <a:t>DEBT-TO-INCOME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06240"/>
            <a:ext cx="452628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(Debt payments / Income) × 100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520440"/>
            <a:ext cx="4983480" cy="1572768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520440"/>
            <a:ext cx="64008" cy="1572768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703320"/>
            <a:ext cx="45262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E69DC"/>
                </a:solidFill>
                <a:latin typeface="Aptos"/>
              </a:defRPr>
            </a:pPr>
            <a:r>
              <a:t>EMERGENCY RUNWAY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206240"/>
            <a:ext cx="452628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Liquid assets / Fixed expenses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88152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677387"/>
                </a:solidFill>
                <a:latin typeface="Aptos"/>
              </a:defRPr>
            </a:pPr>
            <a:r>
              <a:t>Important: zero-income inputs require safe division handling.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AI Recommendation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33271"/>
            <a:ext cx="11365992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11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90472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371600"/>
            <a:ext cx="9875519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42D3E"/>
                </a:solidFill>
                <a:latin typeface="Aptos"/>
              </a:defRPr>
            </a:pPr>
            <a:r>
              <a:t>Hybrid approach: rule-based checks plus a Decision Tree classifier.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76856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57984"/>
            <a:ext cx="9875519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42D3E"/>
                </a:solidFill>
                <a:latin typeface="Aptos"/>
              </a:defRPr>
            </a:pPr>
            <a:r>
              <a:t>Inputs can include savings, spending, liabilities and preferences.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63239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944368"/>
            <a:ext cx="9875519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42D3E"/>
                </a:solidFill>
                <a:latin typeface="Aptos"/>
              </a:defRPr>
            </a:pPr>
            <a:r>
              <a:t>Illustrative user profiles: Conservative, Balanced and Growth.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9624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730752"/>
            <a:ext cx="9875519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42D3E"/>
                </a:solidFill>
                <a:latin typeface="Aptos"/>
              </a:defRPr>
            </a:pPr>
            <a:r>
              <a:t>Recommendations are explained using visible financial indicators.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3480"/>
            <a:ext cx="2491739" cy="749808"/>
          </a:xfrm>
          <a:prstGeom prst="round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93792"/>
            <a:ext cx="24002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4213D"/>
                </a:solidFill>
                <a:latin typeface="Aptos"/>
              </a:defRPr>
            </a:pPr>
            <a:r>
              <a:t>User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0691" y="516636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39D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6139" y="4983480"/>
            <a:ext cx="2491739" cy="749808"/>
          </a:xfrm>
          <a:prstGeom prst="roundRect">
            <a:avLst/>
          </a:prstGeom>
          <a:solidFill>
            <a:srgbClr val="E0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1859" y="5193792"/>
            <a:ext cx="24002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4213D"/>
                </a:solidFill>
                <a:latin typeface="Aptos"/>
              </a:defRPr>
            </a:pPr>
            <a:r>
              <a:t>Rules + Classifier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516636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39D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59" y="4983480"/>
            <a:ext cx="2491739" cy="749808"/>
          </a:xfrm>
          <a:prstGeom prst="round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79" y="5193792"/>
            <a:ext cx="24002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4213D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9932" y="516636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39D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55380" y="4983480"/>
            <a:ext cx="2491739" cy="749808"/>
          </a:xfrm>
          <a:prstGeom prst="roundRect">
            <a:avLst/>
          </a:prstGeom>
          <a:solidFill>
            <a:srgbClr val="E0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01100" y="5193792"/>
            <a:ext cx="24002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4213D"/>
                </a:solidFill>
                <a:latin typeface="Aptos"/>
              </a:defRPr>
            </a:pPr>
            <a:r>
              <a:t>Explanation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Main System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33271"/>
            <a:ext cx="11365992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12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53312"/>
            <a:ext cx="3429000" cy="1572768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53312"/>
            <a:ext cx="64008" cy="1572768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36192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E69DC"/>
                </a:solidFill>
                <a:latin typeface="Aptos"/>
              </a:defRPr>
            </a:pPr>
            <a:r>
              <a:t>01  USER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39112"/>
            <a:ext cx="297180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Profile and authentication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353312"/>
            <a:ext cx="3429000" cy="1572768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353312"/>
            <a:ext cx="64008" cy="1572768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536192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39D96"/>
                </a:solidFill>
                <a:latin typeface="Aptos"/>
              </a:defRPr>
            </a:pPr>
            <a:r>
              <a:t>02  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039112"/>
            <a:ext cx="297180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Income and expense ledger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353312"/>
            <a:ext cx="3429000" cy="1572768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58200" y="1353312"/>
            <a:ext cx="64008" cy="1572768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1536192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E69DC"/>
                </a:solidFill>
                <a:latin typeface="Aptos"/>
              </a:defRPr>
            </a:pPr>
            <a:r>
              <a:t>03  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039112"/>
            <a:ext cx="297180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Category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02152"/>
            <a:ext cx="3429000" cy="1572768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502152"/>
            <a:ext cx="64008" cy="1572768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685032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39D96"/>
                </a:solidFill>
                <a:latin typeface="Aptos"/>
              </a:defRPr>
            </a:pPr>
            <a:r>
              <a:t>04  GOALS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87952"/>
            <a:ext cx="297180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Savings targets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502152"/>
            <a:ext cx="3429000" cy="1572768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3502152"/>
            <a:ext cx="64008" cy="1572768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3685032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E69DC"/>
                </a:solidFill>
                <a:latin typeface="Aptos"/>
              </a:defRPr>
            </a:pPr>
            <a:r>
              <a:t>05  RECOMMENDATIONS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187952"/>
            <a:ext cx="297180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Financial guidance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3502152"/>
            <a:ext cx="3429000" cy="1572768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58200" y="3502152"/>
            <a:ext cx="64008" cy="1572768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3685032"/>
            <a:ext cx="2971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39D96"/>
                </a:solidFill>
                <a:latin typeface="Aptos"/>
              </a:defRPr>
            </a:pPr>
            <a:r>
              <a:t>06 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187952"/>
            <a:ext cx="297180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Visual summaries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33271"/>
            <a:ext cx="11365992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13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90472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371600"/>
            <a:ext cx="9601200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42D3E"/>
                </a:solidFill>
                <a:latin typeface="Aptos"/>
              </a:defRPr>
            </a:pPr>
            <a:r>
              <a:t>1. User enters financial details.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39696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20824"/>
            <a:ext cx="9601200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42D3E"/>
                </a:solidFill>
                <a:latin typeface="Aptos"/>
              </a:defRPr>
            </a:pPr>
            <a:r>
              <a:t>2. The application validates input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88920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670048"/>
            <a:ext cx="9601200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42D3E"/>
                </a:solidFill>
                <a:latin typeface="Aptos"/>
              </a:defRPr>
            </a:pPr>
            <a:r>
              <a:t>3. Records are stored in the database.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38144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319272"/>
            <a:ext cx="9601200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42D3E"/>
                </a:solidFill>
                <a:latin typeface="Aptos"/>
              </a:defRPr>
            </a:pPr>
            <a:r>
              <a:t>4. Financial indicators are calculated.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87368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968496"/>
            <a:ext cx="9601200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42D3E"/>
                </a:solidFill>
                <a:latin typeface="Aptos"/>
              </a:defRPr>
            </a:pPr>
            <a:r>
              <a:t>5. Rules and AI classification generate guidance.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736592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617720"/>
            <a:ext cx="9601200" cy="612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42D3E"/>
                </a:solidFill>
                <a:latin typeface="Aptos"/>
              </a:defRPr>
            </a:pPr>
            <a:r>
              <a:t>6. Dashboard presents the results.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532120"/>
            <a:ext cx="1956815" cy="749808"/>
          </a:xfrm>
          <a:prstGeom prst="round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742432"/>
            <a:ext cx="1865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4213D"/>
                </a:solidFill>
                <a:latin typeface="Aptos"/>
              </a:defRPr>
            </a:pPr>
            <a:r>
              <a:t>Enter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5767" y="571500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39D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71215" y="5532120"/>
            <a:ext cx="1956815" cy="749808"/>
          </a:xfrm>
          <a:prstGeom prst="roundRect">
            <a:avLst/>
          </a:prstGeom>
          <a:solidFill>
            <a:srgbClr val="E0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16935" y="5742432"/>
            <a:ext cx="1865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4213D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5464" y="571500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39D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10912" y="5532120"/>
            <a:ext cx="1956815" cy="749808"/>
          </a:xfrm>
          <a:prstGeom prst="round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56631" y="5742432"/>
            <a:ext cx="1865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4213D"/>
                </a:solidFill>
                <a:latin typeface="Aptos"/>
              </a:defRPr>
            </a:pPr>
            <a:r>
              <a:t>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59" y="571500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39D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50607" y="5532120"/>
            <a:ext cx="1956815" cy="749808"/>
          </a:xfrm>
          <a:prstGeom prst="roundRect">
            <a:avLst/>
          </a:prstGeom>
          <a:solidFill>
            <a:srgbClr val="E0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96327" y="5742432"/>
            <a:ext cx="1865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4213D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4855" y="571500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39D9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90304" y="5532120"/>
            <a:ext cx="1956815" cy="749808"/>
          </a:xfrm>
          <a:prstGeom prst="round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36024" y="5742432"/>
            <a:ext cx="18653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14213D"/>
                </a:solidFill>
                <a:latin typeface="Aptos"/>
              </a:defRPr>
            </a:pPr>
            <a:r>
              <a:t>Display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User Interface 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33271"/>
            <a:ext cx="11365992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14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>
                <a:solidFill>
                  <a:srgbClr val="677387"/>
                </a:solidFill>
                <a:latin typeface="Aptos"/>
              </a:defRPr>
            </a:pPr>
            <a:r>
              <a:t>Illustrative dashboard mockup — not an actual project screenshot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3154680" cy="132588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" cy="1325880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E69DC"/>
                </a:solidFill>
                <a:latin typeface="Aptos"/>
              </a:defRPr>
            </a:pPr>
            <a:r>
              <a:t>MONTHLY INCOME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2697480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₹ 30,000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83080"/>
            <a:ext cx="3154680" cy="132588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783080"/>
            <a:ext cx="64008" cy="1325880"/>
          </a:xfrm>
          <a:prstGeom prst="rect">
            <a:avLst/>
          </a:prstGeom>
          <a:solidFill>
            <a:srgbClr val="C1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965960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C15353"/>
                </a:solidFill>
                <a:latin typeface="Aptos"/>
              </a:defRPr>
            </a:pPr>
            <a:r>
              <a:t>EXPENSES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68880"/>
            <a:ext cx="2697480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₹ 22,000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783080"/>
            <a:ext cx="3154680" cy="132588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09560" y="1783080"/>
            <a:ext cx="64008" cy="132588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965960"/>
            <a:ext cx="2697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39D96"/>
                </a:solidFill>
                <a:latin typeface="Aptos"/>
              </a:defRPr>
            </a:pPr>
            <a:r>
              <a:t>SURPLUS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468880"/>
            <a:ext cx="2697480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₹ 8,000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520440"/>
            <a:ext cx="6492240" cy="2148840"/>
          </a:xfrm>
          <a:prstGeom prst="roundRect">
            <a:avLst/>
          </a:prstGeom>
          <a:solidFill>
            <a:srgbClr val="F2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703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14213D"/>
                </a:solidFill>
                <a:latin typeface="Aptos"/>
              </a:defRPr>
            </a:pPr>
            <a:r>
              <a:t>Monthly Spending Trend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5239512"/>
            <a:ext cx="356616" cy="411480"/>
          </a:xfrm>
          <a:prstGeom prst="round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" y="5742431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M1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4919472"/>
            <a:ext cx="356616" cy="731520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55648" y="5742431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M2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23160" y="4645152"/>
            <a:ext cx="356616" cy="1005840"/>
          </a:xfrm>
          <a:prstGeom prst="roundRect">
            <a:avLst/>
          </a:prstGeom>
          <a:solidFill>
            <a:srgbClr val="F4B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50008" y="5742431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M3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0" y="5056631"/>
            <a:ext cx="356616" cy="594360"/>
          </a:xfrm>
          <a:prstGeom prst="round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44368" y="5742431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M4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11880" y="4828031"/>
            <a:ext cx="356616" cy="822960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38728" y="5742431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M5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4507992"/>
            <a:ext cx="356616" cy="1143000"/>
          </a:xfrm>
          <a:prstGeom prst="roundRect">
            <a:avLst/>
          </a:prstGeom>
          <a:solidFill>
            <a:srgbClr val="F4B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3087" y="5742431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M6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3520440"/>
            <a:ext cx="3337560" cy="214884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0" y="3520440"/>
            <a:ext cx="64008" cy="214884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0" y="3703320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39D96"/>
                </a:solidFill>
                <a:latin typeface="Aptos"/>
              </a:defRPr>
            </a:pPr>
            <a:r>
              <a:t>SAVINGS GOAL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4206240"/>
            <a:ext cx="28803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Progress: 60%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Target: Emergency Fund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Testing &amp;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33271"/>
            <a:ext cx="11365992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15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166360" cy="416052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64008" cy="4160520"/>
          </a:xfrm>
          <a:prstGeom prst="rect">
            <a:avLst/>
          </a:prstGeom>
          <a:solidFill>
            <a:srgbClr val="2E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4709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2E69DC"/>
                </a:solidFill>
                <a:latin typeface="Aptos"/>
              </a:defRPr>
            </a:pPr>
            <a:r>
              <a:t>FUNCTIONAL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47091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₹30,000 − ₹22,000 = ₹8,000 surplus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₹8,000 / ₹40,000 = 20% savings rate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Reject negative expenses / missing categories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Handle zero-income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166360" cy="416052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64008" cy="416052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00200"/>
            <a:ext cx="4709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39D96"/>
                </a:solidFill>
                <a:latin typeface="Aptos"/>
              </a:defRPr>
            </a:pPr>
            <a:r>
              <a:t>SECURITY CONCEPTS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47091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bcrypt password hashing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JWT authentication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Parameterized SQL queries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HTTPS / TLS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Role-based access restrictions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33271"/>
            <a:ext cx="11365992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16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90472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371600"/>
            <a:ext cx="96012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242D3E"/>
                </a:solidFill>
                <a:latin typeface="Aptos"/>
              </a:defRPr>
            </a:pPr>
            <a:r>
              <a:t>Gained experience in planning and documenting a web application.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59736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40864"/>
            <a:ext cx="96012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242D3E"/>
                </a:solidFill>
                <a:latin typeface="Aptos"/>
              </a:defRPr>
            </a:pPr>
            <a:r>
              <a:t>Understood income, expense and savings calculations.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429000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96012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242D3E"/>
                </a:solidFill>
                <a:latin typeface="Aptos"/>
              </a:defRPr>
            </a:pPr>
            <a:r>
              <a:t>Explored classification and explainable financial recommendations.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98264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279392"/>
            <a:ext cx="960120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242D3E"/>
                </a:solidFill>
                <a:latin typeface="Aptos"/>
              </a:defRPr>
            </a:pPr>
            <a:r>
              <a:t>Learned the value of input validation, security and testing.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Limitations &amp; Future Enhancements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33271"/>
            <a:ext cx="11365992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17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166360" cy="420624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64008" cy="4206240"/>
          </a:xfrm>
          <a:prstGeom prst="rect">
            <a:avLst/>
          </a:prstGeom>
          <a:solidFill>
            <a:srgbClr val="C1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4709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C15353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4709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• Manual data entry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• Depends on accuracy of user input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• Projections use assumed returns and inflation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• Representative or synthetic model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166360" cy="4206240"/>
          </a:xfrm>
          <a:prstGeom prst="roundRect">
            <a:avLst/>
          </a:prstGeom>
          <a:solidFill>
            <a:srgbClr val="EC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64008" cy="420624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00200"/>
            <a:ext cx="4709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139D96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4709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• Consent-based bank API integration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• Tamil / English assistant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• Improved expense categorisation</a:t>
            </a:r>
          </a:p>
          <a:p>
            <a:pPr>
              <a:defRPr sz="1300" b="0">
                <a:solidFill>
                  <a:srgbClr val="242D3E"/>
                </a:solidFill>
                <a:latin typeface="Aptos"/>
              </a:defRPr>
            </a:pPr>
            <a:r>
              <a:t>• More realistic scenario simulations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Conclusion &amp; Thank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33271"/>
            <a:ext cx="11365992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>
                <a:solidFill>
                  <a:srgbClr val="677387"/>
                </a:solidFill>
                <a:latin typeface="Aptos"/>
              </a:defRPr>
            </a:pPr>
            <a:r>
              <a:t>18 /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90472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371600"/>
            <a:ext cx="96012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42D3E"/>
                </a:solidFill>
                <a:latin typeface="Aptos"/>
              </a:defRPr>
            </a:pPr>
            <a:r>
              <a:t>The system brings income, expenses, goals and metrics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76856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57984"/>
            <a:ext cx="96012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42D3E"/>
                </a:solidFill>
                <a:latin typeface="Aptos"/>
              </a:defRPr>
            </a:pPr>
            <a:r>
              <a:t>Financial calculations make spending patterns easier to understand.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63239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944368"/>
            <a:ext cx="96012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42D3E"/>
                </a:solidFill>
                <a:latin typeface="Aptos"/>
              </a:defRPr>
            </a:pPr>
            <a:r>
              <a:t>AI concepts can support clear, explainable suggestions.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9624"/>
            <a:ext cx="100584" cy="100584"/>
          </a:xfrm>
          <a:prstGeom prst="roundRect">
            <a:avLst/>
          </a:prstGeom>
          <a:solidFill>
            <a:srgbClr val="139D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730752"/>
            <a:ext cx="96012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42D3E"/>
                </a:solidFill>
                <a:latin typeface="Aptos"/>
              </a:defRPr>
            </a:pPr>
            <a:r>
              <a:t>The internship strengthened full-stack development and project documentation skills.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5166360"/>
            <a:ext cx="4892040" cy="713232"/>
          </a:xfrm>
          <a:prstGeom prst="roundRect">
            <a:avLst/>
          </a:prstGeom>
          <a:solidFill>
            <a:srgbClr val="E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5340096"/>
            <a:ext cx="443484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200" b="1">
                <a:solidFill>
                  <a:srgbClr val="14213D"/>
                </a:solidFill>
                <a:latin typeface="Aptos"/>
              </a:defRPr>
            </a:pPr>
            <a: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